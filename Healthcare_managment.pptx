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0"/>
    <p:sldId id="266" r:id="rId11"/>
    <p:sldId id="267" r:id="rId12"/>
    <p:sldId id="271" r:id="rId13"/>
    <p:sldId id="269" r:id="rId14"/>
    <p:sldId id="270" r:id="rId15"/>
    <p:sldId id="264" r:id="rId16"/>
    <p:sldId id="265" r:id="rId17"/>
  </p:sldIdLst>
  <p:sldSz cx="12192000" cy="6858000"/>
  <p:notesSz cx="6858000" cy="12192000"/>
  <p:embeddedFontLst>
    <p:embeddedFont>
      <p:font typeface="Consolas" panose="020B0609020204030204" pitchFamily="49" charset="0"/>
      <p:regular r:id="rId19"/>
      <p:bold r:id="rId20"/>
      <p:italic r:id="rId21"/>
      <p:boldItalic r:id="rId22"/>
    </p:embeddedFont>
    <p:embeddedFont>
      <p:font typeface="IBM Plex Sans" panose="020B0503050203000203" pitchFamily="34" charset="0"/>
      <p:regular r:id="rId23"/>
    </p:embeddedFont>
    <p:embeddedFont>
      <p:font typeface="IBM Plex Sans Bold" panose="020B0803050203000203" charset="0"/>
      <p:regular r:id="rId24"/>
    </p:embeddedFont>
    <p:embeddedFont>
      <p:font typeface="IBM Plex Sans SemiBold" panose="020B0703050203000203" pitchFamily="34" charset="0"/>
      <p:regular r:id="rId25"/>
    </p:embeddedFont>
    <p:embeddedFont>
      <p:font typeface="JetBrains Mono" panose="020B0604020202020204" charset="0"/>
      <p:regular r:id="rId26"/>
    </p:embeddedFont>
    <p:embeddedFont>
      <p:font typeface="JetBrains Mono Medium" panose="020B0604020202020204" charset="0"/>
      <p:regular r:id="rId2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18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71007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architecture walkthrough: 101,766 diabetes encounters converted from legacy flat files into an integrated, role-governed clinical analytics suite. Emphasize that the focus is on production engineering rigor, data integrity, and strict access controls.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professors through the clinical scale: 101,766 hospitalizations across 71,518 patients over a 10-year period. Emphasize why flat CSVs fail in clinical workflows: lack of relational integrity, inability to protect patient identifiers, and absence of standardized aggregation pipelines.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Detail the architectural separation of concerns. Emphasize why FastAPI acts as the vital governance boundary: it ensures that no direct frontend query reaches the database, enforcing RBAC before executing parameterized aggregation queries.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the engineering choices: why Pydantic v2 was chosen for runtime payload verification, why MySQL 8.0 was preferred over Document stores (guaranteeing cross-table foreign key constraints across encounters and mappings), and how bcrypt ensures secure credential storage.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critical pipeline subtleties: the UCI dataset notoriously used '?' for missing measurements (e.g., weight, payer_code, medical_specialty). We converted these to NULLs and resolved schema keyword collisions like MySQL's reserved word 'change' before loading.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 the relational design: highlighting how separating 'patients' from 'encounters' eliminated redundancy for readmitted individuals, while 'id_mappings' enables performant joins on admission codes without cluttering encounter rows with repetitive strings.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special emphasis to this slide: the access model strictly follows the principle of least privilege. Highlight how the Analyst role is cryptographically barred from accessing individual record endpoints, satisfying clinical privacy standards while enabling population-level research.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Demonstrate how the analytics solve real healthcare challenges: tracking readmissions under 30 days is a primary CMS reimbursement metric. The dashboard turns 100k raw records into instantaneous risk-distribution insights.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Outline the future evolution: moving from retrospective descriptive analytics to prospective predictive models (XGBoost for 30-day readmissions), adopting HL7 FHIR standards for hospital EHR interoperability, and deploying Kafka for real-time telemetry streaming.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6582" y="688975"/>
            <a:ext cx="3769226" cy="319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105" dirty="0">
                <a:solidFill>
                  <a:srgbClr val="A5B4FC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CLINICAL INFORMATICS · SYSTEM ARCHITECTURE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36582" y="1092440"/>
            <a:ext cx="3769226" cy="1398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400" kern="100" spc="-17" dirty="0">
                <a:solidFill>
                  <a:srgbClr val="F8FAFC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Healthcare Patient Management System Dashboard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6582" y="2590720"/>
            <a:ext cx="3769226" cy="6045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clinical </a:t>
            </a:r>
            <a:r>
              <a:rPr lang="en-US" sz="1600" dirty="0">
                <a:solidFill>
                  <a:srgbClr val="E2E8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</a:t>
            </a:r>
            <a:r>
              <a:rPr lang="en-US" sz="1400" dirty="0">
                <a:solidFill>
                  <a:srgbClr val="E2E8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platform for secure patient management and cohort analytics.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6582" y="3496034"/>
            <a:ext cx="3769226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kern="100" spc="52" dirty="0">
                <a:solidFill>
                  <a:srgbClr val="A5B4FC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PROJECT REVIEW</a:t>
            </a:r>
            <a:endParaRPr lang="en-US" sz="10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9095" y="174172"/>
            <a:ext cx="6797009" cy="62738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C6CB04C-3794-C37B-E8D4-1685608F38F7}"/>
              </a:ext>
            </a:extLst>
          </p:cNvPr>
          <p:cNvSpPr txBox="1"/>
          <p:nvPr/>
        </p:nvSpPr>
        <p:spPr>
          <a:xfrm>
            <a:off x="662473" y="3974841"/>
            <a:ext cx="18614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IBM Plex Sans Bold" panose="020B0604020202020204" charset="0"/>
              </a:rPr>
              <a:t>Name : Tejas N</a:t>
            </a:r>
            <a:br>
              <a:rPr lang="en-IN" dirty="0">
                <a:solidFill>
                  <a:schemeClr val="bg1"/>
                </a:solidFill>
                <a:latin typeface="IBM Plex Sans Bold" panose="020B0604020202020204" charset="0"/>
              </a:rPr>
            </a:br>
            <a:r>
              <a:rPr lang="en-IN" dirty="0">
                <a:solidFill>
                  <a:schemeClr val="bg1"/>
                </a:solidFill>
                <a:latin typeface="IBM Plex Sans Bold" panose="020B0604020202020204" charset="0"/>
              </a:rPr>
              <a:t>Emp ID : 82617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C4596FD-3BDE-68B1-B3CA-85419B305ACD}"/>
              </a:ext>
            </a:extLst>
          </p:cNvPr>
          <p:cNvSpPr txBox="1"/>
          <p:nvPr/>
        </p:nvSpPr>
        <p:spPr>
          <a:xfrm>
            <a:off x="10963470" y="6211669"/>
            <a:ext cx="1224088" cy="646331"/>
          </a:xfrm>
          <a:prstGeom prst="rect">
            <a:avLst/>
          </a:prstGeom>
          <a:solidFill>
            <a:srgbClr val="111827"/>
          </a:solidFill>
        </p:spPr>
        <p:txBody>
          <a:bodyPr wrap="square" rtlCol="0">
            <a:spAutoFit/>
          </a:bodyPr>
          <a:lstStyle/>
          <a:p>
            <a:endParaRPr lang="en-IN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5591" y="307975"/>
            <a:ext cx="8418996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105" dirty="0">
                <a:solidFill>
                  <a:srgbClr val="A5B4FC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CLINICAL CONTEXT · PROBLEM STATEMENT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55591" y="545767"/>
            <a:ext cx="8418996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800" kern="100" spc="-14" dirty="0">
                <a:solidFill>
                  <a:srgbClr val="F8FAFC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Why the system exists: from records to action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9129" y="304800"/>
            <a:ext cx="2686975" cy="525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4000"/>
              </a:lnSpc>
              <a:spcAft>
                <a:spcPts val="50"/>
              </a:spcAft>
              <a:buNone/>
            </a:pPr>
            <a:r>
              <a:rPr lang="en-US" sz="1050" kern="100" spc="52" dirty="0">
                <a:solidFill>
                  <a:srgbClr val="A5B4FC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DATASET: UCI 130-US HOSPITALS</a:t>
            </a:r>
            <a:endParaRPr lang="en-US" sz="1050" dirty="0"/>
          </a:p>
          <a:p>
            <a:pPr marL="0" indent="0" algn="r">
              <a:lnSpc>
                <a:spcPct val="104000"/>
              </a:lnSpc>
              <a:spcAft>
                <a:spcPts val="50"/>
              </a:spcAft>
              <a:buNone/>
            </a:pPr>
            <a:r>
              <a:rPr lang="en-US" sz="1050" kern="100" spc="52" dirty="0">
                <a:solidFill>
                  <a:srgbClr val="A5B4FC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TEMPORAL RANGE: 1999–2008</a:t>
            </a:r>
            <a:endParaRPr lang="en-US" sz="1050" dirty="0"/>
          </a:p>
          <a:p>
            <a:pPr marL="0" indent="0" algn="r">
              <a:lnSpc>
                <a:spcPct val="104000"/>
              </a:lnSpc>
              <a:buNone/>
            </a:pPr>
            <a:r>
              <a:rPr lang="en-US" sz="1050" kern="100" spc="52" dirty="0">
                <a:solidFill>
                  <a:srgbClr val="A5B4FC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ENCOUNTER DEPTH: 50+ ATTRIBUTES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74667" y="929744"/>
            <a:ext cx="4470288" cy="5210431"/>
          </a:xfrm>
          <a:prstGeom prst="roundRect">
            <a:avLst>
              <a:gd name="adj" fmla="val 1364"/>
            </a:avLst>
          </a:prstGeom>
          <a:solidFill>
            <a:srgbClr val="4C1D95"/>
          </a:solidFill>
          <a:ln/>
        </p:spPr>
      </p:sp>
      <p:sp>
        <p:nvSpPr>
          <p:cNvPr id="6" name="Text 4"/>
          <p:cNvSpPr/>
          <p:nvPr/>
        </p:nvSpPr>
        <p:spPr>
          <a:xfrm>
            <a:off x="558786" y="1194792"/>
            <a:ext cx="4267093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63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01 / THE RAW RECORD PROBLEM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58786" y="1415058"/>
            <a:ext cx="4063898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500" kern="100" spc="-7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High volume, missing normalization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58786" y="1721763"/>
            <a:ext cx="4063898" cy="1716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UCI Diabetes 130-US Hospitals dataset captures 101,766 clinical encounters across 71,518 unique diabetic patients over a ten-year observational period. In raw CSV form, this represents an intractable operational artifact: hospital-specific identifier encodings, multi-visit patient fragmentation, inconsistent medication status, and ambiguous sentinels.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4055955"/>
              </p:ext>
            </p:extLst>
          </p:nvPr>
        </p:nvGraphicFramePr>
        <p:xfrm>
          <a:off x="610196" y="4890752"/>
          <a:ext cx="4063898" cy="1037504"/>
        </p:xfrm>
        <a:graphic>
          <a:graphicData uri="http://schemas.openxmlformats.org/drawingml/2006/table">
            <a:tbl>
              <a:tblPr/>
              <a:tblGrid>
                <a:gridCol w="18287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5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9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kern="100" spc="63" dirty="0">
                          <a:solidFill>
                            <a:srgbClr val="FFFFF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RAW ENCOUNTERS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598" marR="101598" marT="63498" marB="63498" anchor="ctr">
                    <a:lnL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1D9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101,766 records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598" marR="101598" marT="63498" marB="63498" anchor="ctr">
                    <a:lnL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1D9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9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kern="100" spc="63" dirty="0">
                          <a:solidFill>
                            <a:srgbClr val="FFFFF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UNIQUE COHORT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598" marR="101598" marT="63498" marB="63498" anchor="ctr">
                    <a:lnL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1D9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71,518 patients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598" marR="101598" marT="63498" marB="63498" anchor="ctr">
                    <a:lnL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1D9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160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kern="100" spc="63" dirty="0">
                          <a:solidFill>
                            <a:srgbClr val="FFFFF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READMIT WINDOW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598" marR="101598" marT="63498" marB="63498" anchor="ctr">
                    <a:lnL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1D9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&lt;30 days / &gt;30 days / No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598" marR="101598" marT="63498" marB="63498" anchor="ctr">
                    <a:lnL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1D9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987813" y="929744"/>
            <a:ext cx="3725372" cy="5210431"/>
          </a:xfrm>
          <a:prstGeom prst="roundRect">
            <a:avLst>
              <a:gd name="adj" fmla="val 1636"/>
            </a:avLst>
          </a:prstGeom>
          <a:solidFill>
            <a:srgbClr val="4C1D95"/>
          </a:solidFill>
          <a:ln w="25399">
            <a:solidFill>
              <a:srgbClr val="4C1D95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1" name="Text 8"/>
          <p:cNvSpPr/>
          <p:nvPr/>
        </p:nvSpPr>
        <p:spPr>
          <a:xfrm>
            <a:off x="5206771" y="1220192"/>
            <a:ext cx="3496778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63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02 / SYSTEM OBJECTIVE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206771" y="1592858"/>
            <a:ext cx="1156862" cy="257473"/>
          </a:xfrm>
          <a:prstGeom prst="roundRect">
            <a:avLst>
              <a:gd name="adj" fmla="val 7695"/>
            </a:avLst>
          </a:prstGeom>
          <a:solidFill>
            <a:srgbClr val="4C1D95"/>
          </a:solidFill>
          <a:ln/>
        </p:spPr>
      </p:sp>
      <p:sp>
        <p:nvSpPr>
          <p:cNvPr id="13" name="Text 10"/>
          <p:cNvSpPr/>
          <p:nvPr/>
        </p:nvSpPr>
        <p:spPr>
          <a:xfrm>
            <a:off x="5305788" y="1645966"/>
            <a:ext cx="1568411" cy="158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62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DESIGN GOAL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206771" y="1913830"/>
            <a:ext cx="3268184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500" kern="100" spc="-7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Unified clinical intelligence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5206771" y="2220536"/>
            <a:ext cx="3268184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system turns raw rows into a structured database and two core capabilities: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206771" y="2755801"/>
            <a:ext cx="3268184" cy="890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08000"/>
              </a:lnSpc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Patient Longitudinal Tracking:</a:t>
            </a:r>
            <a:r>
              <a:rPr lang="en-US" sz="13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Link visits to patient histories.</a:t>
            </a:r>
            <a:endParaRPr lang="en-US" sz="1300" dirty="0"/>
          </a:p>
          <a:p>
            <a:pPr marL="264160" indent="-264160" algn="l">
              <a:lnSpc>
                <a:spcPct val="108000"/>
              </a:lnSpc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Quality Analytics:</a:t>
            </a:r>
            <a:r>
              <a:rPr lang="en-US" sz="13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Track readmissions, stay length, and medication trends.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113464" y="5363269"/>
            <a:ext cx="3268184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kern="100" spc="52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TRANSFORMS STATIC CSVS INTO INTERACTIVE DECISION SUPPORT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8813419" y="929744"/>
            <a:ext cx="2980258" cy="5210432"/>
          </a:xfrm>
          <a:prstGeom prst="roundRect">
            <a:avLst>
              <a:gd name="adj" fmla="val 2045"/>
            </a:avLst>
          </a:prstGeom>
          <a:solidFill>
            <a:srgbClr val="4C1D95"/>
          </a:solidFill>
          <a:ln/>
        </p:spPr>
      </p:sp>
      <p:sp>
        <p:nvSpPr>
          <p:cNvPr id="19" name="Text 16"/>
          <p:cNvSpPr/>
          <p:nvPr/>
        </p:nvSpPr>
        <p:spPr>
          <a:xfrm>
            <a:off x="9008242" y="1169392"/>
            <a:ext cx="2827862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63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03 / DATA INGESTION VECTOR</a:t>
            </a:r>
            <a:endParaRPr lang="en-US" sz="105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8242" y="1440458"/>
            <a:ext cx="1904952" cy="19050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8906338" y="5307730"/>
            <a:ext cx="2675466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kern="100" spc="52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50+ FEATURES MAPPED TO THIRD-NORMAL-FORM RELATIONAL TABLES.</a:t>
            </a:r>
            <a:endParaRPr lang="en-US" sz="105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40910A8-DA66-0265-E039-1FE0ACA534F1}"/>
              </a:ext>
            </a:extLst>
          </p:cNvPr>
          <p:cNvSpPr txBox="1"/>
          <p:nvPr/>
        </p:nvSpPr>
        <p:spPr>
          <a:xfrm>
            <a:off x="11044151" y="6140175"/>
            <a:ext cx="1075306" cy="646331"/>
          </a:xfrm>
          <a:prstGeom prst="rect">
            <a:avLst/>
          </a:prstGeom>
          <a:solidFill>
            <a:srgbClr val="111827"/>
          </a:solidFill>
        </p:spPr>
        <p:txBody>
          <a:bodyPr wrap="square" rtlCol="0">
            <a:spAutoFit/>
          </a:bodyPr>
          <a:lstStyle/>
          <a:p>
            <a:endParaRPr lang="en-IN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5591" y="307975"/>
            <a:ext cx="8418996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105" dirty="0">
                <a:solidFill>
                  <a:srgbClr val="A5B4FC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SYSTEM ARCHITECTURE · HIGH-LEVEL TOPOLOGY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55591" y="545767"/>
            <a:ext cx="8418996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800" kern="100" spc="-14" dirty="0">
                <a:solidFill>
                  <a:srgbClr val="F8FAFC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Three layers, one data flow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495791" y="304800"/>
            <a:ext cx="2340313" cy="525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4000"/>
              </a:lnSpc>
              <a:spcAft>
                <a:spcPts val="50"/>
              </a:spcAft>
              <a:buNone/>
            </a:pPr>
            <a:r>
              <a:rPr lang="en-US" sz="1050" kern="100" spc="52" dirty="0">
                <a:solidFill>
                  <a:srgbClr val="A5B4FC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FLOW: LINEAR ETL TO CLIENT</a:t>
            </a:r>
            <a:endParaRPr lang="en-US" sz="1050" dirty="0"/>
          </a:p>
          <a:p>
            <a:pPr marL="0" indent="0" algn="r">
              <a:lnSpc>
                <a:spcPct val="104000"/>
              </a:lnSpc>
              <a:spcAft>
                <a:spcPts val="50"/>
              </a:spcAft>
              <a:buNone/>
            </a:pPr>
            <a:r>
              <a:rPr lang="en-US" sz="1050" kern="100" spc="52" dirty="0">
                <a:solidFill>
                  <a:srgbClr val="A5B4FC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SYNC: REST / JSON APIS</a:t>
            </a:r>
            <a:endParaRPr lang="en-US" sz="1050" dirty="0"/>
          </a:p>
          <a:p>
            <a:pPr marL="0" indent="0" algn="r">
              <a:lnSpc>
                <a:spcPct val="104000"/>
              </a:lnSpc>
              <a:buNone/>
            </a:pPr>
            <a:r>
              <a:rPr lang="en-US" sz="1050" kern="100" spc="52" dirty="0">
                <a:solidFill>
                  <a:srgbClr val="A5B4FC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PERSISTENCE: ACID COMPLIANT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55591" y="1013817"/>
            <a:ext cx="3080169" cy="4985767"/>
          </a:xfrm>
          <a:prstGeom prst="roundRect">
            <a:avLst>
              <a:gd name="adj" fmla="val 1979"/>
            </a:avLst>
          </a:prstGeom>
          <a:solidFill>
            <a:srgbClr val="4C1D95"/>
          </a:solidFill>
          <a:ln/>
        </p:spPr>
      </p:sp>
      <p:sp>
        <p:nvSpPr>
          <p:cNvPr id="6" name="Text 4"/>
          <p:cNvSpPr/>
          <p:nvPr/>
        </p:nvSpPr>
        <p:spPr>
          <a:xfrm>
            <a:off x="558786" y="1194792"/>
            <a:ext cx="2673779" cy="319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63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TIER 01 / INGESTION &amp; WAREHOUSE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58786" y="1727398"/>
            <a:ext cx="1069651" cy="257473"/>
          </a:xfrm>
          <a:prstGeom prst="roundRect">
            <a:avLst>
              <a:gd name="adj" fmla="val 7695"/>
            </a:avLst>
          </a:prstGeom>
          <a:solidFill>
            <a:srgbClr val="1E0646"/>
          </a:solidFill>
          <a:ln/>
        </p:spPr>
      </p:sp>
      <p:sp>
        <p:nvSpPr>
          <p:cNvPr id="8" name="Text 6"/>
          <p:cNvSpPr/>
          <p:nvPr/>
        </p:nvSpPr>
        <p:spPr>
          <a:xfrm>
            <a:off x="657804" y="1780507"/>
            <a:ext cx="1481200" cy="158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62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DATA PLANE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58786" y="2048371"/>
            <a:ext cx="2673779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500" kern="100" spc="-7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Python ETL &amp; MySQL 8.0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58786" y="2346821"/>
            <a:ext cx="2673779" cy="1351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08000"/>
              </a:lnSpc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Batch Extraction:</a:t>
            </a:r>
            <a:r>
              <a:rPr lang="en-US" sz="13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Loads diabetes CSVs with Pandas.</a:t>
            </a:r>
            <a:endParaRPr lang="en-US" sz="1300" dirty="0"/>
          </a:p>
          <a:p>
            <a:pPr marL="264160" indent="-264160" algn="l">
              <a:lnSpc>
                <a:spcPct val="108000"/>
              </a:lnSpc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Normalization:</a:t>
            </a:r>
            <a:r>
              <a:rPr lang="en-US" sz="13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Cleans nulls and resolves mappings.</a:t>
            </a:r>
            <a:endParaRPr lang="en-US" sz="1300" dirty="0"/>
          </a:p>
          <a:p>
            <a:pPr marL="264160" indent="-264160" algn="l">
              <a:lnSpc>
                <a:spcPct val="108000"/>
              </a:lnSpc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Storage Engine:</a:t>
            </a:r>
            <a:r>
              <a:rPr lang="en-US" sz="13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Stores indexed entities in transactional tables.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58786" y="5892800"/>
            <a:ext cx="2673779" cy="19050"/>
          </a:xfrm>
          <a:prstGeom prst="roundRect">
            <a:avLst>
              <a:gd name="adj" fmla="val 49999"/>
            </a:avLst>
          </a:prstGeom>
          <a:solidFill>
            <a:srgbClr val="4C1D95"/>
          </a:solidFill>
          <a:ln/>
        </p:spPr>
      </p:sp>
      <p:sp>
        <p:nvSpPr>
          <p:cNvPr id="12" name="Text 10"/>
          <p:cNvSpPr/>
          <p:nvPr/>
        </p:nvSpPr>
        <p:spPr>
          <a:xfrm>
            <a:off x="558785" y="5350701"/>
            <a:ext cx="2673779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kern="100" spc="52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OUTPUT: NORMALIZED RELATIONAL SCHEMA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490528" y="1013817"/>
            <a:ext cx="3261338" cy="4985767"/>
          </a:xfrm>
          <a:prstGeom prst="roundRect">
            <a:avLst>
              <a:gd name="adj" fmla="val 1869"/>
            </a:avLst>
          </a:prstGeom>
          <a:solidFill>
            <a:srgbClr val="4C1D95"/>
          </a:solidFill>
          <a:ln w="25399">
            <a:solidFill>
              <a:srgbClr val="4C1D9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93723" y="1220192"/>
            <a:ext cx="3032744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63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TIER 02 / SERVICES &amp; AUTH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93723" y="1592858"/>
            <a:ext cx="1331185" cy="257473"/>
          </a:xfrm>
          <a:prstGeom prst="roundRect">
            <a:avLst>
              <a:gd name="adj" fmla="val 7695"/>
            </a:avLst>
          </a:prstGeom>
          <a:solidFill>
            <a:srgbClr val="4C1D95"/>
          </a:solidFill>
          <a:ln/>
        </p:spPr>
      </p:sp>
      <p:sp>
        <p:nvSpPr>
          <p:cNvPr id="16" name="Text 14"/>
          <p:cNvSpPr/>
          <p:nvPr/>
        </p:nvSpPr>
        <p:spPr>
          <a:xfrm>
            <a:off x="4792741" y="1645966"/>
            <a:ext cx="1742734" cy="158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62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CONTROL PLANE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693723" y="1913830"/>
            <a:ext cx="2804149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500" kern="100" spc="-7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FastAPI Async Backend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693723" y="2212280"/>
            <a:ext cx="2804149" cy="15657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08000"/>
              </a:lnSpc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RESTful CRUD:</a:t>
            </a:r>
            <a:r>
              <a:rPr lang="en-US" sz="13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Secures access to patient and encounter records.</a:t>
            </a:r>
            <a:endParaRPr lang="en-US" sz="1300" dirty="0"/>
          </a:p>
          <a:p>
            <a:pPr marL="264160" indent="-264160" algn="l">
              <a:lnSpc>
                <a:spcPct val="108000"/>
              </a:lnSpc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Analytical Engine:</a:t>
            </a:r>
            <a:r>
              <a:rPr lang="en-US" sz="13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Aggregates readmissions, diagnoses, and medication trends.</a:t>
            </a:r>
            <a:endParaRPr lang="en-US" sz="1300" dirty="0"/>
          </a:p>
          <a:p>
            <a:pPr marL="264160" indent="-264160" algn="l">
              <a:lnSpc>
                <a:spcPct val="108000"/>
              </a:lnSpc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Authentication &amp; RBAC:</a:t>
            </a:r>
            <a:r>
              <a:rPr lang="en-US" sz="13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JWT-based row and field permissions.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93723" y="5867400"/>
            <a:ext cx="2804050" cy="19050"/>
          </a:xfrm>
          <a:prstGeom prst="roundRect">
            <a:avLst>
              <a:gd name="adj" fmla="val 49999"/>
            </a:avLst>
          </a:prstGeom>
          <a:solidFill>
            <a:srgbClr val="4C1D95"/>
          </a:solidFill>
          <a:ln/>
        </p:spPr>
      </p:sp>
      <p:sp>
        <p:nvSpPr>
          <p:cNvPr id="20" name="Text 18"/>
          <p:cNvSpPr/>
          <p:nvPr/>
        </p:nvSpPr>
        <p:spPr>
          <a:xfrm>
            <a:off x="4622833" y="5304433"/>
            <a:ext cx="2804149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kern="100" spc="52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OUTPUT: FILTERED JSON PAYLOADS &amp; CLAIMS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755836" y="1013817"/>
            <a:ext cx="3080268" cy="4985767"/>
          </a:xfrm>
          <a:prstGeom prst="roundRect">
            <a:avLst>
              <a:gd name="adj" fmla="val 1979"/>
            </a:avLst>
          </a:prstGeom>
          <a:solidFill>
            <a:srgbClr val="4C1D95"/>
          </a:solidFill>
          <a:ln/>
        </p:spPr>
      </p:sp>
      <p:sp>
        <p:nvSpPr>
          <p:cNvPr id="22" name="Text 20"/>
          <p:cNvSpPr/>
          <p:nvPr/>
        </p:nvSpPr>
        <p:spPr>
          <a:xfrm>
            <a:off x="8959031" y="1194792"/>
            <a:ext cx="2877073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63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TIER 03 / PRESENTATION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959031" y="1567458"/>
            <a:ext cx="1069651" cy="257473"/>
          </a:xfrm>
          <a:prstGeom prst="roundRect">
            <a:avLst>
              <a:gd name="adj" fmla="val 7695"/>
            </a:avLst>
          </a:prstGeom>
          <a:solidFill>
            <a:srgbClr val="1E0646"/>
          </a:solidFill>
          <a:ln/>
        </p:spPr>
      </p:sp>
      <p:sp>
        <p:nvSpPr>
          <p:cNvPr id="24" name="Text 22"/>
          <p:cNvSpPr/>
          <p:nvPr/>
        </p:nvSpPr>
        <p:spPr>
          <a:xfrm>
            <a:off x="9058048" y="1620566"/>
            <a:ext cx="1481200" cy="158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62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USER PLANE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959031" y="1888430"/>
            <a:ext cx="2673878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500" kern="100" spc="-7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React 18 Client Application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959031" y="2186880"/>
            <a:ext cx="2673878" cy="2209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08000"/>
              </a:lnSpc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Role-Adaptive Views:</a:t>
            </a:r>
            <a:r>
              <a:rPr lang="en-US" sz="13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Tailors UI modules dynamically based on JWT token scopes.</a:t>
            </a:r>
            <a:endParaRPr lang="en-US" sz="1300" dirty="0"/>
          </a:p>
          <a:p>
            <a:pPr marL="264160" indent="-264160" algn="l">
              <a:lnSpc>
                <a:spcPct val="108000"/>
              </a:lnSpc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Interactive Visuals:</a:t>
            </a:r>
            <a:r>
              <a:rPr lang="en-US" sz="13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Dynamic Recharts plotting categorical breakdowns and glycemic cohorts.</a:t>
            </a:r>
            <a:endParaRPr lang="en-US" sz="1300" dirty="0"/>
          </a:p>
          <a:p>
            <a:pPr marL="264160" indent="-264160" algn="l">
              <a:lnSpc>
                <a:spcPct val="108000"/>
              </a:lnSpc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Operational Grids:</a:t>
            </a:r>
            <a:r>
              <a:rPr lang="en-US" sz="13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Paginated, searchable patient tables for everyday clinical administration.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959031" y="5892800"/>
            <a:ext cx="2673779" cy="19050"/>
          </a:xfrm>
          <a:prstGeom prst="roundRect">
            <a:avLst>
              <a:gd name="adj" fmla="val 49999"/>
            </a:avLst>
          </a:prstGeom>
          <a:solidFill>
            <a:srgbClr val="4C1D95"/>
          </a:solidFill>
          <a:ln/>
        </p:spPr>
      </p:sp>
      <p:sp>
        <p:nvSpPr>
          <p:cNvPr id="28" name="Text 26"/>
          <p:cNvSpPr/>
          <p:nvPr/>
        </p:nvSpPr>
        <p:spPr>
          <a:xfrm>
            <a:off x="8806634" y="5286474"/>
            <a:ext cx="2673878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kern="100" spc="52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OUTPUT: RESPONSIVE END-USER DASHBOARDS</a:t>
            </a:r>
            <a:endParaRPr lang="en-US" sz="105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B04991D-EB58-4A92-75C6-1832E4388778}"/>
              </a:ext>
            </a:extLst>
          </p:cNvPr>
          <p:cNvSpPr txBox="1"/>
          <p:nvPr/>
        </p:nvSpPr>
        <p:spPr>
          <a:xfrm>
            <a:off x="10963470" y="6211669"/>
            <a:ext cx="1224088" cy="646331"/>
          </a:xfrm>
          <a:prstGeom prst="rect">
            <a:avLst/>
          </a:prstGeom>
          <a:solidFill>
            <a:srgbClr val="111827"/>
          </a:solidFill>
        </p:spPr>
        <p:txBody>
          <a:bodyPr wrap="square" rtlCol="0">
            <a:spAutoFit/>
          </a:bodyPr>
          <a:lstStyle/>
          <a:p>
            <a:endParaRPr lang="en-IN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5591" y="307975"/>
            <a:ext cx="8418996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105" dirty="0">
                <a:solidFill>
                  <a:srgbClr val="A5B4FC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ENGINEERING STACK · SPECIFICATIONS &amp; TRADEOFFS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55591" y="545767"/>
            <a:ext cx="8418996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800" kern="100" spc="-14" dirty="0">
                <a:solidFill>
                  <a:srgbClr val="F8FAFC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The stack: fast, typed, and auditable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929167" y="304800"/>
            <a:ext cx="1906937" cy="525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4000"/>
              </a:lnSpc>
              <a:spcAft>
                <a:spcPts val="50"/>
              </a:spcAft>
              <a:buNone/>
            </a:pPr>
            <a:r>
              <a:rPr lang="en-US" sz="1050" kern="100" spc="52" dirty="0">
                <a:solidFill>
                  <a:srgbClr val="A5B4FC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PYTHON 3.10+ · FASTAPI</a:t>
            </a:r>
            <a:endParaRPr lang="en-US" sz="1050" dirty="0"/>
          </a:p>
          <a:p>
            <a:pPr marL="0" indent="0" algn="r">
              <a:lnSpc>
                <a:spcPct val="104000"/>
              </a:lnSpc>
              <a:spcAft>
                <a:spcPts val="50"/>
              </a:spcAft>
              <a:buNone/>
            </a:pPr>
            <a:r>
              <a:rPr lang="en-US" sz="1050" kern="100" spc="52" dirty="0">
                <a:solidFill>
                  <a:srgbClr val="A5B4FC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REACT 18 · VITE 6</a:t>
            </a:r>
            <a:endParaRPr lang="en-US" sz="1050" dirty="0"/>
          </a:p>
          <a:p>
            <a:pPr marL="0" indent="0" algn="r">
              <a:lnSpc>
                <a:spcPct val="104000"/>
              </a:lnSpc>
              <a:buNone/>
            </a:pPr>
            <a:r>
              <a:rPr lang="en-US" sz="1050" kern="100" spc="52" dirty="0">
                <a:solidFill>
                  <a:srgbClr val="A5B4FC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MYSQL 8.0+ INNODB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55591" y="1013818"/>
            <a:ext cx="2755831" cy="4981972"/>
          </a:xfrm>
          <a:prstGeom prst="roundRect">
            <a:avLst>
              <a:gd name="adj" fmla="val 2212"/>
            </a:avLst>
          </a:prstGeom>
          <a:solidFill>
            <a:srgbClr val="4C1D95"/>
          </a:solidFill>
          <a:ln/>
        </p:spPr>
      </p:sp>
      <p:sp>
        <p:nvSpPr>
          <p:cNvPr id="6" name="Text 4"/>
          <p:cNvSpPr/>
          <p:nvPr/>
        </p:nvSpPr>
        <p:spPr>
          <a:xfrm>
            <a:off x="533387" y="1169392"/>
            <a:ext cx="2578036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63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A / API &amp; BACKEND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33387" y="1389658"/>
            <a:ext cx="240024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500" kern="100" spc="-7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FastAPI Core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33387" y="1688108"/>
            <a:ext cx="1243974" cy="257473"/>
          </a:xfrm>
          <a:prstGeom prst="roundRect">
            <a:avLst>
              <a:gd name="adj" fmla="val 7695"/>
            </a:avLst>
          </a:prstGeom>
          <a:solidFill>
            <a:srgbClr val="1E0646"/>
          </a:solidFill>
          <a:ln/>
        </p:spPr>
      </p:sp>
      <p:sp>
        <p:nvSpPr>
          <p:cNvPr id="9" name="Text 7"/>
          <p:cNvSpPr/>
          <p:nvPr/>
        </p:nvSpPr>
        <p:spPr>
          <a:xfrm>
            <a:off x="632404" y="1741216"/>
            <a:ext cx="1655523" cy="158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62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PYTHON 3.10+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33387" y="2059880"/>
            <a:ext cx="2400240" cy="15657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08000"/>
              </a:lnSpc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FastAPI:</a:t>
            </a:r>
            <a:r>
              <a:rPr lang="en-US" sz="13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Async APIs with OpenAPI docs.</a:t>
            </a:r>
            <a:endParaRPr lang="en-US" sz="1300" dirty="0"/>
          </a:p>
          <a:p>
            <a:pPr marL="264160" indent="-264160" algn="l">
              <a:lnSpc>
                <a:spcPct val="108000"/>
              </a:lnSpc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Pydantic v2:</a:t>
            </a:r>
            <a:r>
              <a:rPr lang="en-US" sz="13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Strict payload validation.</a:t>
            </a:r>
            <a:endParaRPr lang="en-US" sz="1300" dirty="0"/>
          </a:p>
          <a:p>
            <a:pPr marL="264160" indent="-264160" algn="l">
              <a:lnSpc>
                <a:spcPct val="108000"/>
              </a:lnSpc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SQLAlchemy 2.0:</a:t>
            </a:r>
            <a:r>
              <a:rPr lang="en-US" sz="13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Typed queries with connection pooling.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33387" y="5584825"/>
            <a:ext cx="2400240" cy="19050"/>
          </a:xfrm>
          <a:prstGeom prst="roundRect">
            <a:avLst>
              <a:gd name="adj" fmla="val 49999"/>
            </a:avLst>
          </a:prstGeom>
          <a:solidFill>
            <a:srgbClr val="4C1D95"/>
          </a:solidFill>
          <a:ln/>
        </p:spPr>
      </p:sp>
      <p:sp>
        <p:nvSpPr>
          <p:cNvPr id="12" name="Text 10"/>
          <p:cNvSpPr/>
          <p:nvPr/>
        </p:nvSpPr>
        <p:spPr>
          <a:xfrm>
            <a:off x="533387" y="5123061"/>
            <a:ext cx="2400240" cy="872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kern="100" spc="52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TRADEOFF: FASTAPI ASYNC HANDLES CONCURRENT ANALYTIC QUERIES WITH MINIMAL LATENCY.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63818" y="985243"/>
            <a:ext cx="2755831" cy="5010548"/>
          </a:xfrm>
          <a:prstGeom prst="roundRect">
            <a:avLst>
              <a:gd name="adj" fmla="val 2212"/>
            </a:avLst>
          </a:prstGeom>
          <a:solidFill>
            <a:srgbClr val="4C1D95"/>
          </a:solidFill>
          <a:ln/>
        </p:spPr>
      </p:sp>
      <p:sp>
        <p:nvSpPr>
          <p:cNvPr id="14" name="Text 12"/>
          <p:cNvSpPr/>
          <p:nvPr/>
        </p:nvSpPr>
        <p:spPr>
          <a:xfrm>
            <a:off x="3441614" y="1169392"/>
            <a:ext cx="2578036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63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B / PERSISTENCE &amp; ETL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441614" y="1389658"/>
            <a:ext cx="240024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500" kern="100" spc="-7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Data Layer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441614" y="1688108"/>
            <a:ext cx="1069651" cy="257473"/>
          </a:xfrm>
          <a:prstGeom prst="roundRect">
            <a:avLst>
              <a:gd name="adj" fmla="val 7695"/>
            </a:avLst>
          </a:prstGeom>
          <a:solidFill>
            <a:srgbClr val="1E0646"/>
          </a:solidFill>
          <a:ln/>
        </p:spPr>
      </p:sp>
      <p:sp>
        <p:nvSpPr>
          <p:cNvPr id="17" name="Text 15"/>
          <p:cNvSpPr/>
          <p:nvPr/>
        </p:nvSpPr>
        <p:spPr>
          <a:xfrm>
            <a:off x="3540632" y="1741216"/>
            <a:ext cx="1481200" cy="158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62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MYSQL 8.0+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441614" y="2059880"/>
            <a:ext cx="2400240" cy="2209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08000"/>
              </a:lnSpc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MySQL 8.0:</a:t>
            </a:r>
            <a:r>
              <a:rPr lang="en-US" sz="13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InnoDB, foreign keys, and B-tree indexes.</a:t>
            </a:r>
            <a:endParaRPr lang="en-US" sz="1300" dirty="0"/>
          </a:p>
          <a:p>
            <a:pPr marL="264160" indent="-264160" algn="l">
              <a:lnSpc>
                <a:spcPct val="108000"/>
              </a:lnSpc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Pandas &amp; NumPy:</a:t>
            </a:r>
            <a:r>
              <a:rPr lang="en-US" sz="13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In-memory vectorized transformations for 100k+ record sets.</a:t>
            </a:r>
            <a:endParaRPr lang="en-US" sz="1300" dirty="0"/>
          </a:p>
          <a:p>
            <a:pPr marL="264160" indent="-264160" algn="l">
              <a:lnSpc>
                <a:spcPct val="108000"/>
              </a:lnSpc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PyMySQL:</a:t>
            </a:r>
            <a:r>
              <a:rPr lang="en-US" sz="13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Reliable database driver supporting high-throughput bulk inserts.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441614" y="5584825"/>
            <a:ext cx="2400240" cy="19050"/>
          </a:xfrm>
          <a:prstGeom prst="roundRect">
            <a:avLst>
              <a:gd name="adj" fmla="val 49999"/>
            </a:avLst>
          </a:prstGeom>
          <a:solidFill>
            <a:srgbClr val="4C1D95"/>
          </a:solidFill>
          <a:ln/>
        </p:spPr>
      </p:sp>
      <p:sp>
        <p:nvSpPr>
          <p:cNvPr id="20" name="Text 18"/>
          <p:cNvSpPr/>
          <p:nvPr/>
        </p:nvSpPr>
        <p:spPr>
          <a:xfrm>
            <a:off x="3353012" y="5073253"/>
            <a:ext cx="240024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kern="100" spc="52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TRADEOFF: RELATIONAL RIGOR PREFERRED OVER NOSQL TO ENSURE STRICT FOREIGN-KEY LINKAGE.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172046" y="997350"/>
            <a:ext cx="2755831" cy="4998440"/>
          </a:xfrm>
          <a:prstGeom prst="roundRect">
            <a:avLst>
              <a:gd name="adj" fmla="val 2212"/>
            </a:avLst>
          </a:prstGeom>
          <a:solidFill>
            <a:srgbClr val="4C1D95"/>
          </a:solidFill>
          <a:ln w="25399">
            <a:solidFill>
              <a:srgbClr val="4C1D9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75241" y="1194792"/>
            <a:ext cx="2552636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63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C / IDENTITY &amp; AUTH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375241" y="1567458"/>
            <a:ext cx="1069651" cy="257473"/>
          </a:xfrm>
          <a:prstGeom prst="roundRect">
            <a:avLst>
              <a:gd name="adj" fmla="val 7695"/>
            </a:avLst>
          </a:prstGeom>
          <a:solidFill>
            <a:srgbClr val="4C1D95"/>
          </a:solidFill>
          <a:ln/>
        </p:spPr>
      </p:sp>
      <p:sp>
        <p:nvSpPr>
          <p:cNvPr id="24" name="Text 22"/>
          <p:cNvSpPr/>
          <p:nvPr/>
        </p:nvSpPr>
        <p:spPr>
          <a:xfrm>
            <a:off x="6474258" y="1620566"/>
            <a:ext cx="1481200" cy="158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62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START HERE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375241" y="1888430"/>
            <a:ext cx="2349441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500" kern="100" spc="-7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Security Layer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375241" y="2186880"/>
            <a:ext cx="2349441" cy="26388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08000"/>
              </a:lnSpc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python-jose:</a:t>
            </a:r>
            <a:r>
              <a:rPr lang="en-US" sz="13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Stateless cryptographic HS256 JWT generation and signature verification.</a:t>
            </a:r>
            <a:endParaRPr lang="en-US" sz="1300" dirty="0"/>
          </a:p>
          <a:p>
            <a:pPr marL="264160" indent="-264160" algn="l">
              <a:lnSpc>
                <a:spcPct val="108000"/>
              </a:lnSpc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Passlib &amp; Bcrypt:</a:t>
            </a:r>
            <a:r>
              <a:rPr lang="en-US" sz="13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Salted password hashing protecting user access tables.</a:t>
            </a:r>
            <a:endParaRPr lang="en-US" sz="1300" dirty="0"/>
          </a:p>
          <a:p>
            <a:pPr marL="264160" indent="-264160" algn="l">
              <a:lnSpc>
                <a:spcPct val="108000"/>
              </a:lnSpc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Bearer Middleware:</a:t>
            </a:r>
            <a:r>
              <a:rPr lang="en-US" sz="13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Dependency injection intercepting all secure routes.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375241" y="5559425"/>
            <a:ext cx="2349441" cy="19050"/>
          </a:xfrm>
          <a:prstGeom prst="roundRect">
            <a:avLst>
              <a:gd name="adj" fmla="val 49999"/>
            </a:avLst>
          </a:prstGeom>
          <a:solidFill>
            <a:srgbClr val="4C1D95"/>
          </a:solidFill>
          <a:ln/>
        </p:spPr>
      </p:sp>
      <p:sp>
        <p:nvSpPr>
          <p:cNvPr id="28" name="Text 26"/>
          <p:cNvSpPr/>
          <p:nvPr/>
        </p:nvSpPr>
        <p:spPr>
          <a:xfrm>
            <a:off x="6375240" y="5123061"/>
            <a:ext cx="2349441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kern="100" spc="52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TRADEOFF: STATELESS JWT ELIMINATES SESSION STORE LOCKS WHILE GUARANTEEING RBAC CLAIMS.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080273" y="1013817"/>
            <a:ext cx="2755831" cy="5010549"/>
          </a:xfrm>
          <a:prstGeom prst="roundRect">
            <a:avLst>
              <a:gd name="adj" fmla="val 2212"/>
            </a:avLst>
          </a:prstGeom>
          <a:solidFill>
            <a:srgbClr val="4C1D95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0" name="Text 28"/>
          <p:cNvSpPr/>
          <p:nvPr/>
        </p:nvSpPr>
        <p:spPr>
          <a:xfrm>
            <a:off x="9258068" y="1169392"/>
            <a:ext cx="2578036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63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D / FRONTEND CLIENT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9258068" y="1389658"/>
            <a:ext cx="240024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500" kern="100" spc="-7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React Application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9258068" y="1688108"/>
            <a:ext cx="1679731" cy="257473"/>
          </a:xfrm>
          <a:prstGeom prst="roundRect">
            <a:avLst>
              <a:gd name="adj" fmla="val 7695"/>
            </a:avLst>
          </a:prstGeom>
          <a:solidFill>
            <a:srgbClr val="1E0646"/>
          </a:solidFill>
          <a:ln/>
        </p:spPr>
      </p:sp>
      <p:sp>
        <p:nvSpPr>
          <p:cNvPr id="33" name="Text 31"/>
          <p:cNvSpPr/>
          <p:nvPr/>
        </p:nvSpPr>
        <p:spPr>
          <a:xfrm>
            <a:off x="9357086" y="1741216"/>
            <a:ext cx="2091280" cy="158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62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REACT 18 + VITE 6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258068" y="2059880"/>
            <a:ext cx="2400240" cy="2209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08000"/>
              </a:lnSpc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Vite 6:</a:t>
            </a:r>
            <a:r>
              <a:rPr lang="en-US" sz="13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Lightning-fast compilation and optimized asset bundling.</a:t>
            </a:r>
            <a:endParaRPr lang="en-US" sz="1300" dirty="0"/>
          </a:p>
          <a:p>
            <a:pPr marL="264160" indent="-264160" algn="l">
              <a:lnSpc>
                <a:spcPct val="108000"/>
              </a:lnSpc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Recharts:</a:t>
            </a:r>
            <a:r>
              <a:rPr lang="en-US" sz="13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Composable SVG data visualizations reacting to state changes.</a:t>
            </a:r>
            <a:endParaRPr lang="en-US" sz="1300" dirty="0"/>
          </a:p>
          <a:p>
            <a:pPr marL="264160" indent="-264160" algn="l">
              <a:lnSpc>
                <a:spcPct val="108000"/>
              </a:lnSpc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Axios &amp; Lucide:</a:t>
            </a:r>
            <a:r>
              <a:rPr lang="en-US" sz="13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HTTP request interceptors for token attachment and clinical icons.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9258068" y="5584825"/>
            <a:ext cx="2400240" cy="19050"/>
          </a:xfrm>
          <a:prstGeom prst="roundRect">
            <a:avLst>
              <a:gd name="adj" fmla="val 49999"/>
            </a:avLst>
          </a:prstGeom>
          <a:solidFill>
            <a:srgbClr val="4C1D95"/>
          </a:solidFill>
          <a:ln/>
        </p:spPr>
      </p:sp>
      <p:sp>
        <p:nvSpPr>
          <p:cNvPr id="36" name="Text 34"/>
          <p:cNvSpPr/>
          <p:nvPr/>
        </p:nvSpPr>
        <p:spPr>
          <a:xfrm>
            <a:off x="9258068" y="5100329"/>
            <a:ext cx="240024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kern="100" spc="52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TRADEOFF: CLIENT-SIDE ROUTING DECOUPLES ANALYTICS VIEW RENDERING FROM API LATENCY.</a:t>
            </a:r>
            <a:endParaRPr lang="en-US" sz="105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E28B28E-0880-A5F1-EF37-C4A6ED2F382E}"/>
              </a:ext>
            </a:extLst>
          </p:cNvPr>
          <p:cNvSpPr txBox="1"/>
          <p:nvPr/>
        </p:nvSpPr>
        <p:spPr>
          <a:xfrm>
            <a:off x="10963470" y="6211669"/>
            <a:ext cx="1224088" cy="646331"/>
          </a:xfrm>
          <a:prstGeom prst="rect">
            <a:avLst/>
          </a:prstGeom>
          <a:solidFill>
            <a:srgbClr val="111827"/>
          </a:solidFill>
        </p:spPr>
        <p:txBody>
          <a:bodyPr wrap="square" rtlCol="0">
            <a:spAutoFit/>
          </a:bodyPr>
          <a:lstStyle/>
          <a:p>
            <a:endParaRPr lang="en-IN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5591" y="307975"/>
            <a:ext cx="8418996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105" dirty="0">
                <a:solidFill>
                  <a:srgbClr val="A5B4FC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DATA ENGINEERING · EXTRACTION &amp; NORMALIZATION PIPELINE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55591" y="545767"/>
            <a:ext cx="8418996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800" kern="100" spc="-14" dirty="0">
                <a:solidFill>
                  <a:srgbClr val="F8FAFC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From CSV to database: five ETL stages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015882" y="304800"/>
            <a:ext cx="1820222" cy="525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4000"/>
              </a:lnSpc>
              <a:spcAft>
                <a:spcPts val="50"/>
              </a:spcAft>
              <a:buNone/>
            </a:pPr>
            <a:r>
              <a:rPr lang="en-US" sz="1050" kern="100" spc="52" dirty="0">
                <a:solidFill>
                  <a:srgbClr val="A5B4FC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STAGE 1: INGESTION</a:t>
            </a:r>
            <a:endParaRPr lang="en-US" sz="1050" dirty="0"/>
          </a:p>
          <a:p>
            <a:pPr marL="0" indent="0" algn="r">
              <a:lnSpc>
                <a:spcPct val="104000"/>
              </a:lnSpc>
              <a:spcAft>
                <a:spcPts val="50"/>
              </a:spcAft>
              <a:buNone/>
            </a:pPr>
            <a:r>
              <a:rPr lang="en-US" sz="1050" kern="100" spc="52" dirty="0">
                <a:solidFill>
                  <a:srgbClr val="A5B4FC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STAGE 5: BULK LOAD</a:t>
            </a:r>
            <a:endParaRPr lang="en-US" sz="1050" dirty="0"/>
          </a:p>
          <a:p>
            <a:pPr marL="0" indent="0" algn="r">
              <a:lnSpc>
                <a:spcPct val="104000"/>
              </a:lnSpc>
              <a:buNone/>
            </a:pPr>
            <a:r>
              <a:rPr lang="en-US" sz="1050" kern="100" spc="52" dirty="0">
                <a:solidFill>
                  <a:srgbClr val="A5B4FC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INTEGRITY: STRICT FKS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55591" y="1013817"/>
            <a:ext cx="2174225" cy="3505002"/>
          </a:xfrm>
          <a:prstGeom prst="roundRect">
            <a:avLst>
              <a:gd name="adj" fmla="val 2804"/>
            </a:avLst>
          </a:prstGeom>
          <a:solidFill>
            <a:srgbClr val="4C1D95"/>
          </a:solidFill>
          <a:ln/>
        </p:spPr>
      </p:sp>
      <p:sp>
        <p:nvSpPr>
          <p:cNvPr id="6" name="Text 4"/>
          <p:cNvSpPr/>
          <p:nvPr/>
        </p:nvSpPr>
        <p:spPr>
          <a:xfrm>
            <a:off x="507987" y="1169392"/>
            <a:ext cx="2021829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63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STAGE 01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7987" y="1389658"/>
            <a:ext cx="1869433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500" kern="100" spc="-7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Ingest Source CSVs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7987" y="1696363"/>
            <a:ext cx="1869433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Load source CSVs with Pandas.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7987" y="4038997"/>
            <a:ext cx="1869433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kern="100" spc="52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101,766 ROWS LOADED INTO MEMORY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682113" y="1013817"/>
            <a:ext cx="2174225" cy="3505002"/>
          </a:xfrm>
          <a:prstGeom prst="roundRect">
            <a:avLst>
              <a:gd name="adj" fmla="val 2804"/>
            </a:avLst>
          </a:prstGeom>
          <a:solidFill>
            <a:srgbClr val="4C1D95"/>
          </a:solidFill>
          <a:ln/>
        </p:spPr>
      </p:sp>
      <p:sp>
        <p:nvSpPr>
          <p:cNvPr id="11" name="Text 9"/>
          <p:cNvSpPr/>
          <p:nvPr/>
        </p:nvSpPr>
        <p:spPr>
          <a:xfrm>
            <a:off x="2834510" y="1169392"/>
            <a:ext cx="2021829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63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STAGE 02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834510" y="1389658"/>
            <a:ext cx="1869433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500" kern="100" spc="-7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Normalize Nulls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834510" y="1696363"/>
            <a:ext cx="1869433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Convert "?" markers to SQL NULLs.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834510" y="4038997"/>
            <a:ext cx="1869433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kern="100" spc="52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ELIMINATES STRING ARTIFACT SKEW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08636" y="1013817"/>
            <a:ext cx="2174325" cy="3505002"/>
          </a:xfrm>
          <a:prstGeom prst="roundRect">
            <a:avLst>
              <a:gd name="adj" fmla="val 2804"/>
            </a:avLst>
          </a:prstGeom>
          <a:solidFill>
            <a:srgbClr val="4C1D95"/>
          </a:solidFill>
          <a:ln w="25399">
            <a:solidFill>
              <a:srgbClr val="4C1D9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86431" y="1194792"/>
            <a:ext cx="1996529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63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STAGE 03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186431" y="1567458"/>
            <a:ext cx="895328" cy="257473"/>
          </a:xfrm>
          <a:prstGeom prst="roundRect">
            <a:avLst>
              <a:gd name="adj" fmla="val 7695"/>
            </a:avLst>
          </a:prstGeom>
          <a:solidFill>
            <a:srgbClr val="4C1D95"/>
          </a:solidFill>
          <a:ln/>
        </p:spPr>
      </p:sp>
      <p:sp>
        <p:nvSpPr>
          <p:cNvPr id="18" name="Text 16"/>
          <p:cNvSpPr/>
          <p:nvPr/>
        </p:nvSpPr>
        <p:spPr>
          <a:xfrm>
            <a:off x="5285449" y="1620566"/>
            <a:ext cx="1306877" cy="158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62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KEY STEP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186431" y="1888430"/>
            <a:ext cx="1818733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500" kern="100" spc="-7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Resolve Collisions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186431" y="2195136"/>
            <a:ext cx="1818733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Rename reserved fields for safe SQL use.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186431" y="4013597"/>
            <a:ext cx="1818733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kern="100" spc="52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HARDENS ORM COMPATIBILITY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335257" y="1013817"/>
            <a:ext cx="2174225" cy="3505002"/>
          </a:xfrm>
          <a:prstGeom prst="roundRect">
            <a:avLst>
              <a:gd name="adj" fmla="val 2804"/>
            </a:avLst>
          </a:prstGeom>
          <a:solidFill>
            <a:srgbClr val="4C1D95"/>
          </a:solidFill>
          <a:ln/>
        </p:spPr>
      </p:sp>
      <p:sp>
        <p:nvSpPr>
          <p:cNvPr id="23" name="Text 21"/>
          <p:cNvSpPr/>
          <p:nvPr/>
        </p:nvSpPr>
        <p:spPr>
          <a:xfrm>
            <a:off x="7487653" y="1169392"/>
            <a:ext cx="2021829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63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STAGE 04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487653" y="1389658"/>
            <a:ext cx="1869433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500" kern="100" spc="-7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Deduplicate Entities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487653" y="1696363"/>
            <a:ext cx="1869433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Separate patients, visits, and ID mappings.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487653" y="4038997"/>
            <a:ext cx="1869433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kern="100" spc="52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71,518 MASTER PATIENT RECORDS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661779" y="1013817"/>
            <a:ext cx="2174325" cy="3505002"/>
          </a:xfrm>
          <a:prstGeom prst="roundRect">
            <a:avLst>
              <a:gd name="adj" fmla="val 2804"/>
            </a:avLst>
          </a:prstGeom>
          <a:solidFill>
            <a:srgbClr val="4C1D95"/>
          </a:solidFill>
          <a:ln/>
        </p:spPr>
      </p:sp>
      <p:sp>
        <p:nvSpPr>
          <p:cNvPr id="28" name="Text 26"/>
          <p:cNvSpPr/>
          <p:nvPr/>
        </p:nvSpPr>
        <p:spPr>
          <a:xfrm>
            <a:off x="9814176" y="1169392"/>
            <a:ext cx="2021928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63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STAGE 05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9814176" y="1389658"/>
            <a:ext cx="1869532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500" kern="100" spc="-7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Bulk Load Execution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814176" y="1696363"/>
            <a:ext cx="1869532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Load patients first, then linked encounters.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814176" y="4038997"/>
            <a:ext cx="1869532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kern="100" spc="52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MAINTAINS REFERENTIAL INTEGRITY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66490" y="4633119"/>
            <a:ext cx="11836409" cy="2148681"/>
          </a:xfrm>
          <a:prstGeom prst="roundRect">
            <a:avLst>
              <a:gd name="adj" fmla="val 2837"/>
            </a:avLst>
          </a:prstGeom>
          <a:solidFill>
            <a:srgbClr val="4C1D95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3" name="Shape 31"/>
          <p:cNvSpPr/>
          <p:nvPr/>
        </p:nvSpPr>
        <p:spPr>
          <a:xfrm>
            <a:off x="355591" y="4633119"/>
            <a:ext cx="38099" cy="2148681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4" name="Text 32"/>
          <p:cNvSpPr/>
          <p:nvPr/>
        </p:nvSpPr>
        <p:spPr>
          <a:xfrm>
            <a:off x="952476" y="5144294"/>
            <a:ext cx="3213020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63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DATA HYGIENE RULE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952476" y="5423614"/>
            <a:ext cx="2832029" cy="858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Sentinel conversion prevented erroneous aggregations where missing laboratory values might have evaluated as valid categories.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698882" y="5144294"/>
            <a:ext cx="3213020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63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RELATIONAL CARDINALITY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698882" y="5423614"/>
            <a:ext cx="2832029" cy="858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Separating patients from encounters transformed flat multi-encounter records into an explicit 1-to-N normalized relational model.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445289" y="5144294"/>
            <a:ext cx="3213020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63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TRANSACTIONAL GUARANTEE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8445289" y="5423614"/>
            <a:ext cx="2832029" cy="858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Staged bulk inserts utilized transactional checkpoints to ensure no orphan encounter record could persist if a batch faulted.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5591" y="307975"/>
            <a:ext cx="8418996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105" dirty="0">
                <a:solidFill>
                  <a:srgbClr val="A5B4FC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DATA WAREHOUSING · RELATIONAL SCHEMA DESIGN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55591" y="545767"/>
            <a:ext cx="8418996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800" kern="100" spc="-14" dirty="0">
                <a:solidFill>
                  <a:srgbClr val="F8FAFC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What the schema holds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189213" y="304800"/>
            <a:ext cx="1646891" cy="525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4000"/>
              </a:lnSpc>
              <a:spcAft>
                <a:spcPts val="50"/>
              </a:spcAft>
              <a:buNone/>
            </a:pPr>
            <a:r>
              <a:rPr lang="en-US" sz="1050" kern="100" spc="52" dirty="0">
                <a:solidFill>
                  <a:srgbClr val="A5B4FC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SCHEMA: DIABETES_DB</a:t>
            </a:r>
            <a:endParaRPr lang="en-US" sz="1050" dirty="0"/>
          </a:p>
          <a:p>
            <a:pPr marL="0" indent="0" algn="r">
              <a:lnSpc>
                <a:spcPct val="104000"/>
              </a:lnSpc>
              <a:spcAft>
                <a:spcPts val="50"/>
              </a:spcAft>
              <a:buNone/>
            </a:pPr>
            <a:r>
              <a:rPr lang="en-US" sz="1050" kern="100" spc="52" dirty="0">
                <a:solidFill>
                  <a:srgbClr val="A5B4FC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PRIMARY ENTITIES: 4 TABLES</a:t>
            </a:r>
            <a:endParaRPr lang="en-US" sz="1050" dirty="0"/>
          </a:p>
          <a:p>
            <a:pPr marL="0" indent="0" algn="r">
              <a:lnSpc>
                <a:spcPct val="104000"/>
              </a:lnSpc>
              <a:buNone/>
            </a:pPr>
            <a:r>
              <a:rPr lang="en-US" sz="1050" kern="100" spc="52" dirty="0">
                <a:solidFill>
                  <a:srgbClr val="A5B4FC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ENGINE: INNODB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55591" y="1013817"/>
            <a:ext cx="11785313" cy="5773638"/>
          </a:xfrm>
          <a:prstGeom prst="roundRect">
            <a:avLst>
              <a:gd name="adj" fmla="val 1056"/>
            </a:avLst>
          </a:prstGeom>
          <a:solidFill>
            <a:srgbClr val="4C1D95"/>
          </a:solidFill>
          <a:ln/>
        </p:spPr>
      </p:sp>
      <p:sp>
        <p:nvSpPr>
          <p:cNvPr id="6" name="Text 4"/>
          <p:cNvSpPr/>
          <p:nvPr/>
        </p:nvSpPr>
        <p:spPr>
          <a:xfrm>
            <a:off x="533387" y="1169392"/>
            <a:ext cx="11302717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63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01 / RELATIONAL DATABASE MODEL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87" y="1440458"/>
          <a:ext cx="11124922" cy="4823002"/>
        </p:xfrm>
        <a:graphic>
          <a:graphicData uri="http://schemas.openxmlformats.org/drawingml/2006/table">
            <a:tbl>
              <a:tblPr/>
              <a:tblGrid>
                <a:gridCol w="2002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74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936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813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70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kern="100" spc="78" dirty="0">
                          <a:solidFill>
                            <a:srgbClr val="FFFFF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TABLE NAME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1D9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kern="100" spc="78" dirty="0">
                          <a:solidFill>
                            <a:srgbClr val="FFFFF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PRIMARY KEY / INDICES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1D9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kern="100" spc="78" dirty="0">
                          <a:solidFill>
                            <a:srgbClr val="FFFFF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CORE ATTRIBUTES &amp; PAYLOAD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1D9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kern="100" spc="78" dirty="0">
                          <a:solidFill>
                            <a:srgbClr val="FFFFF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RELATIONAL PURPOSE &amp; SCOPE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1D9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33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patients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1D9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patient_nbr</a:t>
                      </a:r>
                      <a:r>
                        <a:rPr lang="en-US" sz="1300" dirty="0">
                          <a:solidFill>
                            <a:srgbClr val="FFFFF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 (PK)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1D9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Demographics: race, gender, and age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1D9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One row per unique patient; ensures demographic normalization across 71,518 cohorts.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1D9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33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encounters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1D9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encounter_id</a:t>
                      </a:r>
                      <a:r>
                        <a:rPr lang="en-US" sz="1300" dirty="0">
                          <a:solidFill>
                            <a:srgbClr val="FFFFF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 (PK)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marL="0" indent="0">
                        <a:buNone/>
                      </a:pP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patient_nbr</a:t>
                      </a:r>
                      <a:r>
                        <a:rPr lang="en-US" sz="1300" dirty="0">
                          <a:solidFill>
                            <a:srgbClr val="FFFFF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 (FK)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1D9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Length of stay, admission/discharge IDs, diagnoses (ICD-9), medications, readmission (&lt;30, &gt;30, NO)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1D9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One row per hospital admission; stores 101,766 longitudinal events linked back to patient master.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1D9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33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id_mappings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1D9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mapping_id</a:t>
                      </a:r>
                      <a:r>
                        <a:rPr lang="en-US" sz="1300" dirty="0">
                          <a:solidFill>
                            <a:srgbClr val="FFFFF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 (PK)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marL="0" indent="0">
                        <a:buNone/>
                      </a:pP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admission_type_id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1D9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Maps source IDs to clinical concepts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1D9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Resolves source coding abstractions; enables dynamic dimension translation in API queries.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1D9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7240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users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1D9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user_id</a:t>
                      </a:r>
                      <a:r>
                        <a:rPr lang="en-US" sz="1300" dirty="0">
                          <a:solidFill>
                            <a:srgbClr val="FFFFF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 (PK)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marL="0" indent="0">
                        <a:buNone/>
                      </a:pP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username</a:t>
                      </a:r>
                      <a:r>
                        <a:rPr lang="en-US" sz="1300" dirty="0">
                          <a:solidFill>
                            <a:srgbClr val="FFFFF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 (UQ)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1D9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Hashed password (bcrypt), full name, user role (</a:t>
                      </a:r>
                      <a:r>
                        <a:rPr lang="en-US" sz="13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admin</a:t>
                      </a:r>
                      <a:r>
                        <a:rPr lang="en-US" sz="1300" dirty="0">
                          <a:solidFill>
                            <a:srgbClr val="FFFFF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, </a:t>
                      </a:r>
                      <a:r>
                        <a:rPr lang="en-US" sz="13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clinical_ops</a:t>
                      </a:r>
                      <a:r>
                        <a:rPr lang="en-US" sz="1300" dirty="0">
                          <a:solidFill>
                            <a:srgbClr val="FFFFF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, </a:t>
                      </a:r>
                      <a:r>
                        <a:rPr lang="en-US" sz="13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analyst</a:t>
                      </a:r>
                      <a:r>
                        <a:rPr lang="en-US" sz="1300" dirty="0">
                          <a:solidFill>
                            <a:srgbClr val="FFFFF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), active status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1D9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Separates identity from clinical data.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1D9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33387" y="6383834"/>
            <a:ext cx="658349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kern="100" spc="52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STRICT FOREIGN KEY CONSTRAINT: ENCOUNTERS.PATIENT_NBR REFERENCES PATIENTS.PATIENT_NBR WITH ON DELETE CASCADE RESTRICTED.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269179" y="6383834"/>
            <a:ext cx="4389129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050" kern="100" spc="52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B-TREE INDEXING ON PATIENT_NBR, ADMISSION_TYPE_ID, AND READMITTED.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5591" y="307975"/>
            <a:ext cx="8418996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105" dirty="0">
                <a:solidFill>
                  <a:srgbClr val="A5B4FC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GOVERNANCE &amp; SECURITY · ROLE-BASED ACCESS CONTROL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55591" y="545767"/>
            <a:ext cx="8418996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800" kern="100" spc="-14" dirty="0">
                <a:solidFill>
                  <a:srgbClr val="F8FAFC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Three roles, three access levels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582506" y="304800"/>
            <a:ext cx="2253598" cy="525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4000"/>
              </a:lnSpc>
              <a:spcAft>
                <a:spcPts val="50"/>
              </a:spcAft>
              <a:buNone/>
            </a:pPr>
            <a:r>
              <a:rPr lang="en-US" sz="1050" kern="100" spc="52" dirty="0">
                <a:solidFill>
                  <a:srgbClr val="A5B4FC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SECURITY: JWT / HS256</a:t>
            </a:r>
            <a:endParaRPr lang="en-US" sz="1050" dirty="0"/>
          </a:p>
          <a:p>
            <a:pPr marL="0" indent="0" algn="r">
              <a:lnSpc>
                <a:spcPct val="104000"/>
              </a:lnSpc>
              <a:spcAft>
                <a:spcPts val="50"/>
              </a:spcAft>
              <a:buNone/>
            </a:pPr>
            <a:r>
              <a:rPr lang="en-US" sz="1050" kern="100" spc="52" dirty="0">
                <a:solidFill>
                  <a:srgbClr val="A5B4FC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PRINCIPLE: LEAST PRIVILEGE</a:t>
            </a:r>
            <a:endParaRPr lang="en-US" sz="1050" dirty="0"/>
          </a:p>
          <a:p>
            <a:pPr marL="0" indent="0" algn="r">
              <a:lnSpc>
                <a:spcPct val="104000"/>
              </a:lnSpc>
              <a:buNone/>
            </a:pPr>
            <a:r>
              <a:rPr lang="en-US" sz="1050" kern="100" spc="52" dirty="0">
                <a:solidFill>
                  <a:srgbClr val="A5B4FC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AUDIT: ENDPOINT MIDDLEWARE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55591" y="1013817"/>
            <a:ext cx="3725174" cy="5138477"/>
          </a:xfrm>
          <a:prstGeom prst="roundRect">
            <a:avLst>
              <a:gd name="adj" fmla="val 1636"/>
            </a:avLst>
          </a:prstGeom>
          <a:solidFill>
            <a:srgbClr val="4C1D95"/>
          </a:solidFill>
          <a:ln w="25399">
            <a:solidFill>
              <a:srgbClr val="4C1D9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4185" y="1220192"/>
            <a:ext cx="3496580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63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ROLE 01 / SYSTEM GOVERNANCE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84185" y="1592858"/>
            <a:ext cx="1331185" cy="257473"/>
          </a:xfrm>
          <a:prstGeom prst="roundRect">
            <a:avLst>
              <a:gd name="adj" fmla="val 7695"/>
            </a:avLst>
          </a:prstGeom>
          <a:solidFill>
            <a:srgbClr val="4C1D95"/>
          </a:solidFill>
          <a:ln/>
        </p:spPr>
      </p:sp>
      <p:sp>
        <p:nvSpPr>
          <p:cNvPr id="8" name="Text 6"/>
          <p:cNvSpPr/>
          <p:nvPr/>
        </p:nvSpPr>
        <p:spPr>
          <a:xfrm>
            <a:off x="683203" y="1645966"/>
            <a:ext cx="1742734" cy="158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62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ADMINISTRATOR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84185" y="1913830"/>
            <a:ext cx="3267985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500" kern="100" spc="-7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Full System Governance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84185" y="2220536"/>
            <a:ext cx="3496580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Full control of data, users, and settings.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84185" y="2582466"/>
            <a:ext cx="3267886" cy="19050"/>
          </a:xfrm>
          <a:prstGeom prst="roundRect">
            <a:avLst>
              <a:gd name="adj" fmla="val 49999"/>
            </a:avLst>
          </a:prstGeom>
          <a:solidFill>
            <a:srgbClr val="4C1D95"/>
          </a:solidFill>
          <a:ln/>
        </p:spPr>
      </p:sp>
      <p:sp>
        <p:nvSpPr>
          <p:cNvPr id="12" name="Text 10"/>
          <p:cNvSpPr/>
          <p:nvPr/>
        </p:nvSpPr>
        <p:spPr>
          <a:xfrm>
            <a:off x="584185" y="2757091"/>
            <a:ext cx="3267985" cy="15975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08000"/>
              </a:lnSpc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Patient Records:</a:t>
            </a:r>
            <a:r>
              <a:rPr lang="en-US" sz="13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Full CRUD access.</a:t>
            </a:r>
            <a:endParaRPr lang="en-US" sz="1300" dirty="0"/>
          </a:p>
          <a:p>
            <a:pPr marL="264160" indent="-264160" algn="l">
              <a:lnSpc>
                <a:spcPct val="108000"/>
              </a:lnSpc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Clinical Encounters:</a:t>
            </a:r>
            <a:r>
              <a:rPr lang="en-US" sz="13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Full CRUD permissions on all historical encounters.</a:t>
            </a:r>
            <a:endParaRPr lang="en-US" sz="1300" dirty="0"/>
          </a:p>
          <a:p>
            <a:pPr marL="264160" indent="-264160" algn="l">
              <a:lnSpc>
                <a:spcPct val="108000"/>
              </a:lnSpc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Analytics:</a:t>
            </a:r>
            <a:r>
              <a:rPr lang="en-US" sz="13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Complete access to cohort engines and raw metric feeds.</a:t>
            </a:r>
            <a:endParaRPr lang="en-US" sz="1300" dirty="0"/>
          </a:p>
          <a:p>
            <a:pPr marL="264160" indent="-264160" algn="l">
              <a:lnSpc>
                <a:spcPct val="108000"/>
              </a:lnSpc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User Management:</a:t>
            </a:r>
            <a:r>
              <a:rPr lang="en-US" sz="13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Provision, role modification, and account revocation.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84185" y="5535584"/>
            <a:ext cx="326798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kern="100" spc="52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EXCLUSIVE PERMISSION: PERMANENT RECORD DELETION &amp; USER PROVISIONING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233161" y="1013817"/>
            <a:ext cx="3725273" cy="5138477"/>
          </a:xfrm>
          <a:prstGeom prst="roundRect">
            <a:avLst>
              <a:gd name="adj" fmla="val 1636"/>
            </a:avLst>
          </a:prstGeom>
          <a:solidFill>
            <a:srgbClr val="4C1D95"/>
          </a:solidFill>
          <a:ln/>
        </p:spPr>
      </p:sp>
      <p:sp>
        <p:nvSpPr>
          <p:cNvPr id="15" name="Text 13"/>
          <p:cNvSpPr/>
          <p:nvPr/>
        </p:nvSpPr>
        <p:spPr>
          <a:xfrm>
            <a:off x="4436356" y="1194792"/>
            <a:ext cx="3522078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63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ROLE 02 / DAILY WORKFLOW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436356" y="1567458"/>
            <a:ext cx="1854054" cy="257473"/>
          </a:xfrm>
          <a:prstGeom prst="roundRect">
            <a:avLst>
              <a:gd name="adj" fmla="val 7695"/>
            </a:avLst>
          </a:prstGeom>
          <a:solidFill>
            <a:srgbClr val="1E0646"/>
          </a:solidFill>
          <a:ln/>
        </p:spPr>
      </p:sp>
      <p:sp>
        <p:nvSpPr>
          <p:cNvPr id="17" name="Text 15"/>
          <p:cNvSpPr/>
          <p:nvPr/>
        </p:nvSpPr>
        <p:spPr>
          <a:xfrm>
            <a:off x="4535374" y="1620566"/>
            <a:ext cx="2265603" cy="158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62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CLINICAL OPERATIONS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436356" y="1888430"/>
            <a:ext cx="3318883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500" kern="100" spc="-7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Direct Patient Operations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436356" y="2195136"/>
            <a:ext cx="3522078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 daily patient and encounter workflows.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436356" y="2557066"/>
            <a:ext cx="3318883" cy="19050"/>
          </a:xfrm>
          <a:prstGeom prst="roundRect">
            <a:avLst>
              <a:gd name="adj" fmla="val 49999"/>
            </a:avLst>
          </a:prstGeom>
          <a:solidFill>
            <a:srgbClr val="4C1D95"/>
          </a:solidFill>
          <a:ln/>
        </p:spPr>
      </p:sp>
      <p:sp>
        <p:nvSpPr>
          <p:cNvPr id="21" name="Text 19"/>
          <p:cNvSpPr/>
          <p:nvPr/>
        </p:nvSpPr>
        <p:spPr>
          <a:xfrm>
            <a:off x="4436356" y="2731691"/>
            <a:ext cx="3318883" cy="18121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08000"/>
              </a:lnSpc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Patient Records:</a:t>
            </a:r>
            <a:r>
              <a:rPr lang="en-US" sz="13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View, create new admissions, update demographic info.</a:t>
            </a:r>
            <a:endParaRPr lang="en-US" sz="1300" dirty="0"/>
          </a:p>
          <a:p>
            <a:pPr marL="264160" indent="-264160" algn="l">
              <a:lnSpc>
                <a:spcPct val="108000"/>
              </a:lnSpc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Clinical Encounters:</a:t>
            </a:r>
            <a:r>
              <a:rPr lang="en-US" sz="13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Log new encounter results and update diagnoses.</a:t>
            </a:r>
            <a:endParaRPr lang="en-US" sz="1300" dirty="0"/>
          </a:p>
          <a:p>
            <a:pPr marL="264160" indent="-264160" algn="l">
              <a:lnSpc>
                <a:spcPct val="108000"/>
              </a:lnSpc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Data Protection:</a:t>
            </a:r>
            <a:r>
              <a:rPr lang="en-US" sz="13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</a:t>
            </a:r>
            <a:r>
              <a:rPr lang="en-US" sz="1300" i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Zero delete permissions</a:t>
            </a:r>
            <a:r>
              <a:rPr lang="en-US" sz="13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across any patient or visit tables.</a:t>
            </a:r>
            <a:endParaRPr lang="en-US" sz="1300" dirty="0"/>
          </a:p>
          <a:p>
            <a:pPr marL="264160" indent="-264160" algn="l">
              <a:lnSpc>
                <a:spcPct val="108000"/>
              </a:lnSpc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User Management:</a:t>
            </a:r>
            <a:r>
              <a:rPr lang="en-US" sz="13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No visibility or access to system accounts.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35374" y="5510808"/>
            <a:ext cx="3318883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kern="100" spc="52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SAFETY CONSTRAINT: APPEND AND EDIT ONLY; RECORDS CANNOT BE PURGED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110831" y="1013818"/>
            <a:ext cx="3725273" cy="5138476"/>
          </a:xfrm>
          <a:prstGeom prst="roundRect">
            <a:avLst>
              <a:gd name="adj" fmla="val 1636"/>
            </a:avLst>
          </a:prstGeom>
          <a:solidFill>
            <a:srgbClr val="4C1D95"/>
          </a:solidFill>
          <a:ln/>
        </p:spPr>
      </p:sp>
      <p:sp>
        <p:nvSpPr>
          <p:cNvPr id="24" name="Text 22"/>
          <p:cNvSpPr/>
          <p:nvPr/>
        </p:nvSpPr>
        <p:spPr>
          <a:xfrm>
            <a:off x="8314026" y="1194792"/>
            <a:ext cx="3522078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63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ROLE 03 / DE-IDENTIFIED RESEARCH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314026" y="1567458"/>
            <a:ext cx="1592620" cy="257473"/>
          </a:xfrm>
          <a:prstGeom prst="roundRect">
            <a:avLst>
              <a:gd name="adj" fmla="val 7695"/>
            </a:avLst>
          </a:prstGeom>
          <a:solidFill>
            <a:srgbClr val="1E0646"/>
          </a:solidFill>
          <a:ln/>
        </p:spPr>
      </p:sp>
      <p:sp>
        <p:nvSpPr>
          <p:cNvPr id="26" name="Text 24"/>
          <p:cNvSpPr/>
          <p:nvPr/>
        </p:nvSpPr>
        <p:spPr>
          <a:xfrm>
            <a:off x="8413043" y="1620566"/>
            <a:ext cx="2004169" cy="158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62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CLINICAL ANALYST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314026" y="1888430"/>
            <a:ext cx="3318883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500" kern="100" spc="-7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De-Identified Analytics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314026" y="2195136"/>
            <a:ext cx="3522078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 de-identified population analytics.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314026" y="2557066"/>
            <a:ext cx="3318883" cy="19050"/>
          </a:xfrm>
          <a:prstGeom prst="roundRect">
            <a:avLst>
              <a:gd name="adj" fmla="val 49999"/>
            </a:avLst>
          </a:prstGeom>
          <a:solidFill>
            <a:srgbClr val="4C1D95"/>
          </a:solidFill>
          <a:ln/>
        </p:spPr>
      </p:sp>
      <p:sp>
        <p:nvSpPr>
          <p:cNvPr id="30" name="Text 28"/>
          <p:cNvSpPr/>
          <p:nvPr/>
        </p:nvSpPr>
        <p:spPr>
          <a:xfrm>
            <a:off x="8314026" y="2731691"/>
            <a:ext cx="3318883" cy="2026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08000"/>
              </a:lnSpc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Aggregate Analytics:</a:t>
            </a:r>
            <a:r>
              <a:rPr lang="en-US" sz="13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Read-only access to KPIs, readmission rates, and graphs.</a:t>
            </a:r>
            <a:endParaRPr lang="en-US" sz="1300" dirty="0"/>
          </a:p>
          <a:p>
            <a:pPr marL="264160" indent="-264160" algn="l">
              <a:lnSpc>
                <a:spcPct val="108000"/>
              </a:lnSpc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Cohort Visualizations:</a:t>
            </a:r>
            <a:r>
              <a:rPr lang="en-US" sz="13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Filter by diagnostic groups, medication regimens.</a:t>
            </a:r>
            <a:endParaRPr lang="en-US" sz="1300" dirty="0"/>
          </a:p>
          <a:p>
            <a:pPr marL="264160" indent="-264160" algn="l">
              <a:lnSpc>
                <a:spcPct val="108000"/>
              </a:lnSpc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Privacy Barrier:</a:t>
            </a:r>
            <a:r>
              <a:rPr lang="en-US" sz="13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</a:t>
            </a:r>
            <a:r>
              <a:rPr lang="en-US" sz="1300" i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Completely blocked</a:t>
            </a:r>
            <a:r>
              <a:rPr lang="en-US" sz="13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from individual names, IDs, or encounter rows.</a:t>
            </a:r>
            <a:endParaRPr lang="en-US" sz="1300" dirty="0"/>
          </a:p>
          <a:p>
            <a:pPr marL="264160" indent="-264160" algn="l">
              <a:lnSpc>
                <a:spcPct val="108000"/>
              </a:lnSpc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Zero Write Access:</a:t>
            </a:r>
            <a:r>
              <a:rPr lang="en-US" sz="13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Inability to mutate any clinical or system entity.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314026" y="5496520"/>
            <a:ext cx="3318883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kern="100" spc="52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HIPAA PRINCIPLE: MATHEMATICAL ACCESS WITHOUT INDIVIDUAL RECORD DISCLOSURE</a:t>
            </a:r>
            <a:endParaRPr lang="en-US" sz="105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ED217ED-AF22-8B91-8D6A-B124BD60C7F3}"/>
              </a:ext>
            </a:extLst>
          </p:cNvPr>
          <p:cNvSpPr txBox="1"/>
          <p:nvPr/>
        </p:nvSpPr>
        <p:spPr>
          <a:xfrm>
            <a:off x="10963470" y="6211669"/>
            <a:ext cx="1224088" cy="646331"/>
          </a:xfrm>
          <a:prstGeom prst="rect">
            <a:avLst/>
          </a:prstGeom>
          <a:solidFill>
            <a:srgbClr val="111827"/>
          </a:solidFill>
        </p:spPr>
        <p:txBody>
          <a:bodyPr wrap="square" rtlCol="0">
            <a:spAutoFit/>
          </a:bodyPr>
          <a:lstStyle/>
          <a:p>
            <a:endParaRPr lang="en-IN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>
            <a:extLst>
              <a:ext uri="{FF2B5EF4-FFF2-40B4-BE49-F238E27FC236}">
                <a16:creationId xmlns:a16="http://schemas.microsoft.com/office/drawing/2014/main" id="{62C48EC6-8B3F-AA34-119C-3028B080B5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22361"/>
            <a:ext cx="12192000" cy="5813278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52D4BC8B-D49D-2C6B-5F3B-147EC57894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22361"/>
            <a:ext cx="12192000" cy="5813278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91D5A7F6-0A0C-2DA1-4F28-E2074B9617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22361"/>
            <a:ext cx="12192000" cy="5813278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03BB6503-8440-F759-83F7-1AB0200EBF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22361"/>
            <a:ext cx="12192000" cy="626099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9FAACC7-61D3-E39B-5C05-E1C48C77B0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4322"/>
            <a:ext cx="12192000" cy="6426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2072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833716F-2ECA-36BA-2659-F94F3643DB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2206"/>
            <a:ext cx="12192000" cy="6325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9993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39519B-7D32-8885-0C47-1B5BC9D46D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1400"/>
            <a:ext cx="12192000" cy="636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9073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60C7BF6-1843-DFE1-C27E-924B5D3986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4024"/>
            <a:ext cx="12192000" cy="6333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4208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216B793-F0F2-97C7-040A-6106D5CECA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6008"/>
            <a:ext cx="12192000" cy="6341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9736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0C9499E-65EA-19B7-1EC8-9FC5260047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7532"/>
            <a:ext cx="12192000" cy="6350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0916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5591" y="307975"/>
            <a:ext cx="8418996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105" dirty="0">
                <a:solidFill>
                  <a:srgbClr val="A5B4FC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ROADMAP &amp; EXTENSIBILITY · TECHNICAL EVOLUTION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55591" y="545767"/>
            <a:ext cx="8418996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800" kern="100" spc="-14" dirty="0">
                <a:solidFill>
                  <a:srgbClr val="F8FAFC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Future enhancements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929167" y="304800"/>
            <a:ext cx="1906937" cy="525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4000"/>
              </a:lnSpc>
              <a:spcAft>
                <a:spcPts val="50"/>
              </a:spcAft>
              <a:buNone/>
            </a:pPr>
            <a:r>
              <a:rPr lang="en-US" sz="1050" kern="100" spc="52" dirty="0">
                <a:solidFill>
                  <a:srgbClr val="A5B4FC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PHASE 2: PREDICTIVE ML</a:t>
            </a:r>
            <a:endParaRPr lang="en-US" sz="1050" dirty="0"/>
          </a:p>
          <a:p>
            <a:pPr marL="0" indent="0" algn="r">
              <a:lnSpc>
                <a:spcPct val="104000"/>
              </a:lnSpc>
              <a:spcAft>
                <a:spcPts val="50"/>
              </a:spcAft>
              <a:buNone/>
            </a:pPr>
            <a:r>
              <a:rPr lang="en-US" sz="1050" kern="100" spc="52" dirty="0">
                <a:solidFill>
                  <a:srgbClr val="A5B4FC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PHASE 3: FHIR &amp; HL7</a:t>
            </a:r>
            <a:endParaRPr lang="en-US" sz="1050" dirty="0"/>
          </a:p>
          <a:p>
            <a:pPr marL="0" indent="0" algn="r">
              <a:lnSpc>
                <a:spcPct val="104000"/>
              </a:lnSpc>
              <a:buNone/>
            </a:pPr>
            <a:r>
              <a:rPr lang="en-US" sz="1050" kern="100" spc="52" dirty="0">
                <a:solidFill>
                  <a:srgbClr val="A5B4FC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PHASE 4: KAFKA STREAMS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55591" y="1013817"/>
            <a:ext cx="6796910" cy="1681758"/>
          </a:xfrm>
          <a:prstGeom prst="roundRect">
            <a:avLst>
              <a:gd name="adj" fmla="val 3625"/>
            </a:avLst>
          </a:prstGeom>
          <a:solidFill>
            <a:srgbClr val="4C1D95"/>
          </a:solidFill>
          <a:ln/>
        </p:spPr>
      </p:sp>
      <p:sp>
        <p:nvSpPr>
          <p:cNvPr id="6" name="Shape 4"/>
          <p:cNvSpPr/>
          <p:nvPr/>
        </p:nvSpPr>
        <p:spPr>
          <a:xfrm>
            <a:off x="355591" y="1013817"/>
            <a:ext cx="38099" cy="168175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571486" y="1143992"/>
            <a:ext cx="6581015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63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01 / MACHINE LEARNING INTEGRATION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71486" y="1364258"/>
            <a:ext cx="6403219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500" kern="100" spc="-7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Predictive readmission scoring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71486" y="1670963"/>
            <a:ext cx="6581015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Score readmission risk at intake using labs and patient history.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71486" y="1997571"/>
            <a:ext cx="6581015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kern="100" spc="52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ENABLES AUTOMATED CLINICAL ALERT FLAGS FOR HIGH-RISK DIABETIC DISCHARGES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55591" y="2847975"/>
            <a:ext cx="6796910" cy="1896368"/>
          </a:xfrm>
          <a:prstGeom prst="roundRect">
            <a:avLst>
              <a:gd name="adj" fmla="val 3214"/>
            </a:avLst>
          </a:prstGeom>
          <a:solidFill>
            <a:srgbClr val="4C1D95"/>
          </a:solidFill>
          <a:ln/>
        </p:spPr>
      </p:sp>
      <p:sp>
        <p:nvSpPr>
          <p:cNvPr id="12" name="Shape 10"/>
          <p:cNvSpPr/>
          <p:nvPr/>
        </p:nvSpPr>
        <p:spPr>
          <a:xfrm>
            <a:off x="355591" y="2847975"/>
            <a:ext cx="38099" cy="18963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571486" y="2978150"/>
            <a:ext cx="6581015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63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02 / INTEROPERABILITY STANDARDS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71486" y="3198416"/>
            <a:ext cx="6403219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500" kern="100" spc="-7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HL7 FHIR interoperability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71486" y="3505121"/>
            <a:ext cx="6403219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Refactor ETL connectors to ingest and export standardized FHIR </a:t>
            </a:r>
            <a:r>
              <a:rPr lang="en-US" sz="1300" dirty="0">
                <a:solidFill>
                  <a:srgbClr val="FFFFFF"/>
                </a:solidFill>
                <a:highlight>
                  <a:srgbClr val="1E29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Patient</a:t>
            </a:r>
            <a:r>
              <a:rPr lang="en-US" sz="13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and </a:t>
            </a:r>
            <a:r>
              <a:rPr lang="en-US" sz="1300" dirty="0">
                <a:solidFill>
                  <a:srgbClr val="FFFFFF"/>
                </a:solidFill>
                <a:highlight>
                  <a:srgbClr val="1E29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Encounter</a:t>
            </a:r>
            <a:r>
              <a:rPr lang="en-US" sz="13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JSON resources, enabling interoperability with modern EHRs.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71486" y="4046339"/>
            <a:ext cx="6581015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kern="100" spc="52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FACILITATES SEAMLESS INTEGRATION WITH EPIC AND CERNER HOSPITAL SYSTEMS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55591" y="4896743"/>
            <a:ext cx="6796910" cy="1681857"/>
          </a:xfrm>
          <a:prstGeom prst="roundRect">
            <a:avLst>
              <a:gd name="adj" fmla="val 3624"/>
            </a:avLst>
          </a:prstGeom>
          <a:solidFill>
            <a:srgbClr val="4C1D95"/>
          </a:solidFill>
          <a:ln/>
        </p:spPr>
      </p:sp>
      <p:sp>
        <p:nvSpPr>
          <p:cNvPr id="18" name="Shape 16"/>
          <p:cNvSpPr/>
          <p:nvPr/>
        </p:nvSpPr>
        <p:spPr>
          <a:xfrm>
            <a:off x="355591" y="4896743"/>
            <a:ext cx="38099" cy="1681857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571486" y="5026918"/>
            <a:ext cx="6581015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63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03 / STREAMING ARCHITECTURE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71486" y="5247184"/>
            <a:ext cx="6403219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500" kern="100" spc="-7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Apache Kafka / RabbitMQ Event-Driven Streaming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71486" y="5553889"/>
            <a:ext cx="6581015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Stream telemetry and encounter updates in real time.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71486" y="5880497"/>
            <a:ext cx="6581015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kern="100" spc="52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SUB-SECOND DASHBOARD LATENCY FOR MULTI-FACILITY HEALTHCARE OPERATIONS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304798" y="1013817"/>
            <a:ext cx="4531306" cy="2872879"/>
          </a:xfrm>
          <a:prstGeom prst="roundRect">
            <a:avLst>
              <a:gd name="adj" fmla="val 2122"/>
            </a:avLst>
          </a:prstGeom>
          <a:solidFill>
            <a:srgbClr val="4C1D95"/>
          </a:solidFill>
          <a:ln w="25399">
            <a:solidFill>
              <a:srgbClr val="4C1D9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07993" y="1191617"/>
            <a:ext cx="1418297" cy="257473"/>
          </a:xfrm>
          <a:prstGeom prst="roundRect">
            <a:avLst>
              <a:gd name="adj" fmla="val 7695"/>
            </a:avLst>
          </a:prstGeom>
          <a:solidFill>
            <a:srgbClr val="4C1D95"/>
          </a:solidFill>
          <a:ln/>
        </p:spPr>
      </p:sp>
      <p:sp>
        <p:nvSpPr>
          <p:cNvPr id="25" name="Text 23"/>
          <p:cNvSpPr/>
          <p:nvPr/>
        </p:nvSpPr>
        <p:spPr>
          <a:xfrm>
            <a:off x="7607010" y="1244726"/>
            <a:ext cx="1829846" cy="158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62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PRIMARY TARGET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507993" y="1668165"/>
            <a:ext cx="4328111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63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CLINICAL IMPACT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507993" y="1888430"/>
            <a:ext cx="4124916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500" kern="100" spc="-7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Preventing 30-Day Relapse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507993" y="2195136"/>
            <a:ext cx="4124916" cy="858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Current analysis identifies medication switches and glycemic extremes as primary drivers of relapse. Incorporating prospective scoring allows case managers to intervene before discharge.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507993" y="3200896"/>
            <a:ext cx="4124916" cy="19050"/>
          </a:xfrm>
          <a:prstGeom prst="roundRect">
            <a:avLst>
              <a:gd name="adj" fmla="val 49999"/>
            </a:avLst>
          </a:prstGeom>
          <a:solidFill>
            <a:srgbClr val="4C1D95"/>
          </a:solidFill>
          <a:ln/>
        </p:spPr>
      </p:sp>
      <p:sp>
        <p:nvSpPr>
          <p:cNvPr id="30" name="Text 28"/>
          <p:cNvSpPr/>
          <p:nvPr/>
        </p:nvSpPr>
        <p:spPr>
          <a:xfrm>
            <a:off x="7507993" y="3381474"/>
            <a:ext cx="4124916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kern="100" spc="52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TARGET: 15% REDUCTION IN PREVENTABLE 30-DAY DIABETES READMISSIONS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304798" y="4000996"/>
            <a:ext cx="4531306" cy="1470521"/>
          </a:xfrm>
          <a:prstGeom prst="roundRect">
            <a:avLst>
              <a:gd name="adj" fmla="val 4145"/>
            </a:avLst>
          </a:prstGeom>
          <a:solidFill>
            <a:srgbClr val="4C1D95"/>
          </a:solidFill>
          <a:ln/>
        </p:spPr>
      </p:sp>
      <p:sp>
        <p:nvSpPr>
          <p:cNvPr id="32" name="Text 30"/>
          <p:cNvSpPr/>
          <p:nvPr/>
        </p:nvSpPr>
        <p:spPr>
          <a:xfrm>
            <a:off x="7482593" y="4156571"/>
            <a:ext cx="4353511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63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ARCHITECTURE HORIZON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482593" y="4376837"/>
            <a:ext cx="4175715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500" kern="100" spc="-7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Containerized Kubernetes Cluster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7482593" y="4683542"/>
            <a:ext cx="4175715" cy="643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Dockerized microservice deployment with horizontal pod autoscaling for intensive aggregation queries across millions of patient encounters.</a:t>
            </a:r>
            <a:endParaRPr lang="en-US" sz="13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2C8EB9F-8A93-9146-CDFE-7C33FB17FB0E}"/>
              </a:ext>
            </a:extLst>
          </p:cNvPr>
          <p:cNvSpPr txBox="1"/>
          <p:nvPr/>
        </p:nvSpPr>
        <p:spPr>
          <a:xfrm>
            <a:off x="10963470" y="6211669"/>
            <a:ext cx="1224088" cy="646331"/>
          </a:xfrm>
          <a:prstGeom prst="rect">
            <a:avLst/>
          </a:prstGeom>
          <a:solidFill>
            <a:srgbClr val="111827"/>
          </a:solidFill>
        </p:spPr>
        <p:txBody>
          <a:bodyPr wrap="square" rtlCol="0">
            <a:spAutoFit/>
          </a:bodyPr>
          <a:lstStyle/>
          <a:p>
            <a:endParaRPr lang="en-IN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38339" cy="6858000"/>
          </a:xfrm>
          <a:prstGeom prst="rect">
            <a:avLst/>
          </a:prstGeom>
          <a:solidFill>
            <a:srgbClr val="4C1D95"/>
          </a:solidFill>
          <a:ln/>
        </p:spPr>
      </p:sp>
      <p:sp>
        <p:nvSpPr>
          <p:cNvPr id="3" name="Shape 1"/>
          <p:cNvSpPr/>
          <p:nvPr/>
        </p:nvSpPr>
        <p:spPr>
          <a:xfrm>
            <a:off x="2438339" y="0"/>
            <a:ext cx="9753356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2819329" y="3130743"/>
            <a:ext cx="8991375" cy="713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5200" kern="100" spc="-26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Thank you</a:t>
            </a:r>
            <a:endParaRPr lang="en-US" sz="5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1828</Words>
  <Application>Microsoft Office PowerPoint</Application>
  <PresentationFormat>Widescreen</PresentationFormat>
  <Paragraphs>230</Paragraphs>
  <Slides>16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IBM Plex Sans SemiBold</vt:lpstr>
      <vt:lpstr>JetBrains Mono</vt:lpstr>
      <vt:lpstr>Arial</vt:lpstr>
      <vt:lpstr>IBM Plex Sans</vt:lpstr>
      <vt:lpstr>Consolas</vt:lpstr>
      <vt:lpstr>IBM Plex Sans Bold</vt:lpstr>
      <vt:lpstr>JetBrains Mono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Tejasn2204@outlook.com</cp:lastModifiedBy>
  <cp:revision>3</cp:revision>
  <dcterms:created xsi:type="dcterms:W3CDTF">2026-10-11T16:16:57Z</dcterms:created>
  <dcterms:modified xsi:type="dcterms:W3CDTF">2026-10-11T16:42:49Z</dcterms:modified>
</cp:coreProperties>
</file>